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13232"/>
            <a:ext cx="8503920" cy="4572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9808" y="548640"/>
            <a:ext cx="329184" cy="329184"/>
          </a:xfrm>
          <a:prstGeom prst="ellipse">
            <a:avLst/>
          </a:prstGeom>
          <a:solidFill>
            <a:srgbClr val="1976D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287578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500176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12774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925372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Калькулятор басейну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9164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8828C"/>
                </a:solidFill>
              </a:defRPr>
            </a:pPr>
            <a:r>
              <a:t>Крок 1/5 • Оберіть базові параметри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Тип об’єкта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514600"/>
            <a:ext cx="97840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679192"/>
            <a:ext cx="9326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Басейн</a:t>
            </a:r>
          </a:p>
          <a:p>
            <a:pPr algn="ctr">
              <a:defRPr sz="1200">
                <a:solidFill>
                  <a:srgbClr val="78828C"/>
                </a:solidFill>
              </a:defRPr>
            </a:pPr>
            <a:r>
              <a:t>вибрано за замовчуванням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8328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Тип чаші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703320"/>
            <a:ext cx="4800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7320" y="3867912"/>
            <a:ext cx="4343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rPr dirty="0" err="1"/>
              <a:t>Бетонна</a:t>
            </a:r>
            <a:r>
              <a:rPr dirty="0"/>
              <a:t> (</a:t>
            </a:r>
            <a:r>
              <a:rPr dirty="0" err="1"/>
              <a:t>моноліт</a:t>
            </a:r>
            <a:r>
              <a:rPr dirty="0"/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03320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867912"/>
            <a:ext cx="4343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Композитна чаша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6344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Розташування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983480"/>
            <a:ext cx="4800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5148072"/>
            <a:ext cx="4343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Вуличний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983480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5148072"/>
            <a:ext cx="4343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У приміщенні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6080760"/>
            <a:ext cx="1463040" cy="50292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Далі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13232"/>
            <a:ext cx="8503920" cy="4572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13232"/>
            <a:ext cx="2125980" cy="457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980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875788" y="548640"/>
            <a:ext cx="329184" cy="329184"/>
          </a:xfrm>
          <a:prstGeom prst="ellipse">
            <a:avLst/>
          </a:prstGeom>
          <a:solidFill>
            <a:srgbClr val="1976D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00176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2774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925372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97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Деталі конструкції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8828C"/>
                </a:solidFill>
              </a:defRPr>
            </a:pPr>
            <a:r>
              <a:t>Крок 2/5 • Основні рішення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Форма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606040"/>
            <a:ext cx="3154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770632"/>
            <a:ext cx="26974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Прямокутна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606040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770632"/>
            <a:ext cx="26974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Овальна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606040"/>
            <a:ext cx="3154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2770632"/>
            <a:ext cx="269748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Нестандартна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6616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Тип водообміну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886200"/>
            <a:ext cx="4800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4050792"/>
            <a:ext cx="4343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Скімерний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86200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050792"/>
            <a:ext cx="4343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Переливний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84632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Вхід у басейн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5166360"/>
            <a:ext cx="4800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17320" y="5330952"/>
            <a:ext cx="4343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Вбудовані сходи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166360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5330952"/>
            <a:ext cx="4343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Драбина / не визначився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080760"/>
            <a:ext cx="1463040" cy="502920"/>
          </a:xfrm>
          <a:prstGeom prst="roundRect">
            <a:avLst/>
          </a:prstGeom>
          <a:solidFill>
            <a:srgbClr val="F5F6F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05A64"/>
                </a:solidFill>
              </a:rPr>
              <a:t>Назад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6080760"/>
            <a:ext cx="1463040" cy="50292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Далі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13232"/>
            <a:ext cx="8503920" cy="4572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13232"/>
            <a:ext cx="4251960" cy="457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980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87578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001768" y="548640"/>
            <a:ext cx="329184" cy="329184"/>
          </a:xfrm>
          <a:prstGeom prst="ellipse">
            <a:avLst/>
          </a:prstGeom>
          <a:solidFill>
            <a:srgbClr val="1976D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2774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925372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97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Розміри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2372" y="17099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8828C"/>
                </a:solidFill>
              </a:defRPr>
            </a:pPr>
            <a:r>
              <a:rPr dirty="0" err="1"/>
              <a:t>Крок</a:t>
            </a:r>
            <a:r>
              <a:rPr dirty="0"/>
              <a:t> 3/5 • </a:t>
            </a:r>
            <a:r>
              <a:rPr dirty="0" err="1"/>
              <a:t>Вкажіть</a:t>
            </a:r>
            <a:r>
              <a:rPr dirty="0"/>
              <a:t> </a:t>
            </a:r>
            <a:r>
              <a:rPr dirty="0" err="1"/>
              <a:t>габарити</a:t>
            </a:r>
            <a:r>
              <a:rPr dirty="0"/>
              <a:t> (</a:t>
            </a:r>
            <a:r>
              <a:rPr dirty="0" err="1"/>
              <a:t>повзунки</a:t>
            </a:r>
            <a:r>
              <a:rPr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A64"/>
                </a:solidFill>
              </a:defRPr>
            </a:pPr>
            <a:r>
              <a:t>Довжина (м)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788920"/>
            <a:ext cx="7863840" cy="7315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52560" y="2715768"/>
            <a:ext cx="201168" cy="20116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29800" y="2468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529"/>
                </a:solidFill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91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A64"/>
                </a:solidFill>
              </a:defRPr>
            </a:pPr>
            <a:r>
              <a:t>Ширина (м)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611880"/>
            <a:ext cx="7863840" cy="7315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52560" y="3538728"/>
            <a:ext cx="201168" cy="20116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29800" y="32918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529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14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A64"/>
                </a:solidFill>
              </a:defRPr>
            </a:pPr>
            <a:r>
              <a:t>Глибина (м)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434840"/>
            <a:ext cx="7863840" cy="73152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052560" y="4361688"/>
            <a:ext cx="201168" cy="20116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800" y="4114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529"/>
                </a:solidFill>
              </a:defRPr>
            </a:pPr>
            <a:r>
              <a:t>1.6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7492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76D2"/>
                </a:solidFill>
              </a:defRPr>
            </a:pPr>
            <a:r>
              <a:t>Об’єм: 51.2 м³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6080760"/>
            <a:ext cx="1463040" cy="502920"/>
          </a:xfrm>
          <a:prstGeom prst="roundRect">
            <a:avLst/>
          </a:prstGeom>
          <a:solidFill>
            <a:srgbClr val="F5F6F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05A64"/>
                </a:solidFill>
              </a:rPr>
              <a:t>Назад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6080760"/>
            <a:ext cx="1463040" cy="50292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Далі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13232"/>
            <a:ext cx="8503920" cy="4572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13232"/>
            <a:ext cx="6377940" cy="457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980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87578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00176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27748" y="548640"/>
            <a:ext cx="329184" cy="329184"/>
          </a:xfrm>
          <a:prstGeom prst="ellipse">
            <a:avLst/>
          </a:prstGeom>
          <a:solidFill>
            <a:srgbClr val="1976D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9253728" y="548640"/>
            <a:ext cx="329184" cy="329184"/>
          </a:xfrm>
          <a:prstGeom prst="ellipse">
            <a:avLst/>
          </a:prstGeom>
          <a:solidFill>
            <a:srgbClr val="E0E4E9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8828C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97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Комплектація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8828C"/>
                </a:solidFill>
              </a:defRPr>
            </a:pPr>
            <a:r>
              <a:t>Крок 4/5 • Оберіть основні опції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Підігрів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606040"/>
            <a:ext cx="315468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770632"/>
            <a:ext cx="26974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Так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606040"/>
            <a:ext cx="3154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770632"/>
            <a:ext cx="26974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Ні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606040"/>
            <a:ext cx="3154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2770632"/>
            <a:ext cx="26974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Не знаю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2044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Дезінфекція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840480"/>
            <a:ext cx="48006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4005072"/>
            <a:ext cx="43434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Автоматична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480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005072"/>
            <a:ext cx="43434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Базова / не знаю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5488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828C"/>
                </a:solidFill>
              </a:defRPr>
            </a:pPr>
            <a:r>
              <a:t>Додатково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5074920"/>
            <a:ext cx="24688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12529"/>
                </a:solidFill>
              </a:rPr>
              <a:t>Освітлення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5074920"/>
            <a:ext cx="2468880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b="1" dirty="0">
                <a:solidFill>
                  <a:srgbClr val="212529"/>
                </a:solidFill>
              </a:rPr>
              <a:t>Гідромасаж</a:t>
            </a:r>
            <a:endParaRPr sz="1200" b="1" dirty="0">
              <a:solidFill>
                <a:srgbClr val="212529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92240" y="5074920"/>
            <a:ext cx="24688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12529"/>
                </a:solidFill>
              </a:rPr>
              <a:t>Протитечія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3999" y="5074920"/>
            <a:ext cx="24688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12529"/>
                </a:solidFill>
              </a:rPr>
              <a:t>Водоспад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080760"/>
            <a:ext cx="1463040" cy="502920"/>
          </a:xfrm>
          <a:prstGeom prst="roundRect">
            <a:avLst/>
          </a:prstGeom>
          <a:solidFill>
            <a:srgbClr val="F5F6F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05A64"/>
                </a:solidFill>
              </a:rPr>
              <a:t>Назад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6080760"/>
            <a:ext cx="1463040" cy="50292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Далі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13232"/>
            <a:ext cx="8503920" cy="45720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713232"/>
            <a:ext cx="8503920" cy="457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980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287578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00176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127748" y="548640"/>
            <a:ext cx="329184" cy="329184"/>
          </a:xfrm>
          <a:prstGeom prst="ellipse">
            <a:avLst/>
          </a:prstGeom>
          <a:solidFill>
            <a:srgbClr val="2E7D3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9253728" y="548640"/>
            <a:ext cx="329184" cy="329184"/>
          </a:xfrm>
          <a:prstGeom prst="ellipse">
            <a:avLst/>
          </a:prstGeom>
          <a:solidFill>
            <a:srgbClr val="1976D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430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12529"/>
                </a:solidFill>
              </a:defRPr>
            </a:pPr>
            <a:r>
              <a:t>Результат розрахунку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764792"/>
            <a:ext cx="8503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212529"/>
                </a:solidFill>
              </a:rPr>
              <a:t>Тип</a:t>
            </a:r>
            <a:r>
              <a:rPr sz="1200" b="1" dirty="0">
                <a:solidFill>
                  <a:srgbClr val="212529"/>
                </a:solidFill>
              </a:rPr>
              <a:t> </a:t>
            </a:r>
            <a:r>
              <a:rPr sz="1200" b="1" dirty="0" err="1">
                <a:solidFill>
                  <a:srgbClr val="212529"/>
                </a:solidFill>
              </a:rPr>
              <a:t>чаші</a:t>
            </a:r>
            <a:r>
              <a:rPr sz="1200" b="1" dirty="0">
                <a:solidFill>
                  <a:srgbClr val="212529"/>
                </a:solidFill>
              </a:rPr>
              <a:t>:</a:t>
            </a:r>
            <a:r>
              <a:rPr sz="1200" b="0" dirty="0">
                <a:solidFill>
                  <a:srgbClr val="212529"/>
                </a:solidFill>
              </a:rPr>
              <a:t> </a:t>
            </a:r>
            <a:r>
              <a:rPr sz="1200" b="0" dirty="0" err="1">
                <a:solidFill>
                  <a:srgbClr val="212529"/>
                </a:solidFill>
              </a:rPr>
              <a:t>Бетонна</a:t>
            </a:r>
            <a:r>
              <a:rPr sz="1200" b="0" dirty="0">
                <a:solidFill>
                  <a:srgbClr val="212529"/>
                </a:solidFill>
              </a:rPr>
              <a:t> (</a:t>
            </a:r>
            <a:r>
              <a:rPr sz="1200" b="0" dirty="0" err="1">
                <a:solidFill>
                  <a:srgbClr val="212529"/>
                </a:solidFill>
              </a:rPr>
              <a:t>моноліт</a:t>
            </a:r>
            <a:r>
              <a:rPr sz="1200" b="0" dirty="0">
                <a:solidFill>
                  <a:srgbClr val="212529"/>
                </a:solidFill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212529"/>
                </a:solidFill>
              </a:rPr>
              <a:t>Тип</a:t>
            </a:r>
            <a:r>
              <a:rPr sz="1200" b="1" dirty="0">
                <a:solidFill>
                  <a:srgbClr val="212529"/>
                </a:solidFill>
              </a:rPr>
              <a:t> </a:t>
            </a:r>
            <a:r>
              <a:rPr sz="1200" b="1" dirty="0" err="1">
                <a:solidFill>
                  <a:srgbClr val="212529"/>
                </a:solidFill>
              </a:rPr>
              <a:t>водообміну</a:t>
            </a:r>
            <a:r>
              <a:rPr sz="1200" b="1" dirty="0">
                <a:solidFill>
                  <a:srgbClr val="212529"/>
                </a:solidFill>
              </a:rPr>
              <a:t>:</a:t>
            </a:r>
            <a:r>
              <a:rPr sz="1200" b="0" dirty="0">
                <a:solidFill>
                  <a:srgbClr val="212529"/>
                </a:solidFill>
              </a:rPr>
              <a:t> </a:t>
            </a:r>
            <a:r>
              <a:rPr sz="1200" b="0" dirty="0" err="1">
                <a:solidFill>
                  <a:srgbClr val="212529"/>
                </a:solidFill>
              </a:rPr>
              <a:t>Скімерний</a:t>
            </a:r>
            <a:endParaRPr sz="1200" b="0" dirty="0">
              <a:solidFill>
                <a:srgbClr val="212529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212529"/>
                </a:solidFill>
              </a:rPr>
              <a:t>Розташування</a:t>
            </a:r>
            <a:r>
              <a:rPr sz="1200" b="1" dirty="0">
                <a:solidFill>
                  <a:srgbClr val="212529"/>
                </a:solidFill>
              </a:rPr>
              <a:t>:</a:t>
            </a:r>
            <a:r>
              <a:rPr sz="1200" b="0" dirty="0">
                <a:solidFill>
                  <a:srgbClr val="212529"/>
                </a:solidFill>
              </a:rPr>
              <a:t> У </a:t>
            </a:r>
            <a:r>
              <a:rPr sz="1200" b="0" dirty="0" err="1">
                <a:solidFill>
                  <a:srgbClr val="212529"/>
                </a:solidFill>
              </a:rPr>
              <a:t>приміщенні</a:t>
            </a:r>
            <a:endParaRPr sz="1200" b="0" dirty="0">
              <a:solidFill>
                <a:srgbClr val="212529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212529"/>
                </a:solidFill>
              </a:rPr>
              <a:t>Розміри</a:t>
            </a:r>
            <a:r>
              <a:rPr sz="1200" b="1" dirty="0">
                <a:solidFill>
                  <a:srgbClr val="212529"/>
                </a:solidFill>
              </a:rPr>
              <a:t>:</a:t>
            </a:r>
            <a:r>
              <a:rPr sz="1200" b="0" dirty="0">
                <a:solidFill>
                  <a:srgbClr val="212529"/>
                </a:solidFill>
              </a:rPr>
              <a:t> 8 × 4 × 1.6 м</a:t>
            </a:r>
          </a:p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212529"/>
                </a:solidFill>
              </a:rPr>
              <a:t>Опції</a:t>
            </a:r>
            <a:r>
              <a:rPr sz="1200" b="1" dirty="0">
                <a:solidFill>
                  <a:srgbClr val="212529"/>
                </a:solidFill>
              </a:rPr>
              <a:t>:</a:t>
            </a:r>
            <a:r>
              <a:rPr sz="1200" b="0" dirty="0">
                <a:solidFill>
                  <a:srgbClr val="212529"/>
                </a:solidFill>
              </a:rPr>
              <a:t> </a:t>
            </a:r>
            <a:r>
              <a:rPr sz="1200" b="0" dirty="0" err="1">
                <a:solidFill>
                  <a:srgbClr val="212529"/>
                </a:solidFill>
              </a:rPr>
              <a:t>Підігрів</a:t>
            </a:r>
            <a:r>
              <a:rPr sz="1200" b="0" dirty="0">
                <a:solidFill>
                  <a:srgbClr val="212529"/>
                </a:solidFill>
              </a:rPr>
              <a:t>, </a:t>
            </a:r>
            <a:r>
              <a:rPr sz="1200" b="0" dirty="0" err="1">
                <a:solidFill>
                  <a:srgbClr val="212529"/>
                </a:solidFill>
              </a:rPr>
              <a:t>Освітлення</a:t>
            </a:r>
            <a:r>
              <a:rPr sz="1200" b="0" dirty="0">
                <a:solidFill>
                  <a:srgbClr val="212529"/>
                </a:solidFill>
              </a:rPr>
              <a:t>, </a:t>
            </a:r>
            <a:r>
              <a:rPr sz="1200" b="0" dirty="0" err="1">
                <a:solidFill>
                  <a:srgbClr val="212529"/>
                </a:solidFill>
              </a:rPr>
              <a:t>Накриття</a:t>
            </a:r>
            <a:endParaRPr sz="1200" b="0" dirty="0">
              <a:solidFill>
                <a:srgbClr val="212529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83080" y="3599947"/>
            <a:ext cx="818044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05A64"/>
                </a:solidFill>
              </a:defRPr>
            </a:pPr>
            <a:r>
              <a:rPr dirty="0" err="1"/>
              <a:t>Якщо</a:t>
            </a:r>
            <a:r>
              <a:rPr dirty="0"/>
              <a:t> у </a:t>
            </a:r>
            <a:r>
              <a:rPr dirty="0" err="1"/>
              <a:t>вас</a:t>
            </a:r>
            <a:r>
              <a:rPr dirty="0"/>
              <a:t> </a:t>
            </a:r>
            <a:r>
              <a:rPr dirty="0" err="1"/>
              <a:t>вже</a:t>
            </a:r>
            <a:r>
              <a:rPr dirty="0"/>
              <a:t> є </a:t>
            </a:r>
            <a:r>
              <a:rPr dirty="0" err="1"/>
              <a:t>дизайн‑проєкт</a:t>
            </a:r>
            <a:r>
              <a:rPr dirty="0"/>
              <a:t>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попередній</a:t>
            </a:r>
            <a:r>
              <a:rPr dirty="0"/>
              <a:t> </a:t>
            </a:r>
            <a:r>
              <a:rPr dirty="0" err="1"/>
              <a:t>прорахунок</a:t>
            </a:r>
            <a:r>
              <a:rPr dirty="0"/>
              <a:t>, </a:t>
            </a:r>
            <a:r>
              <a:rPr dirty="0" err="1"/>
              <a:t>прикріпіть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— </a:t>
            </a:r>
            <a:r>
              <a:rPr dirty="0" err="1"/>
              <a:t>ми</a:t>
            </a:r>
            <a:r>
              <a:rPr dirty="0"/>
              <a:t> </a:t>
            </a:r>
            <a:r>
              <a:rPr dirty="0" err="1"/>
              <a:t>швидше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деталь</a:t>
            </a:r>
            <a:r>
              <a:rPr lang="uk-UA" dirty="0"/>
              <a:t>ніше</a:t>
            </a:r>
            <a:r>
              <a:rPr dirty="0"/>
              <a:t> </a:t>
            </a:r>
            <a:r>
              <a:rPr dirty="0" err="1"/>
              <a:t>підготуємо</a:t>
            </a:r>
            <a:r>
              <a:rPr dirty="0"/>
              <a:t> </a:t>
            </a:r>
            <a:r>
              <a:rPr dirty="0" err="1"/>
              <a:t>кошторис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959352"/>
            <a:ext cx="8503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8828C"/>
                </a:solidFill>
              </a:defRPr>
            </a:pPr>
            <a:r>
              <a:rPr dirty="0" err="1"/>
              <a:t>Прикріпити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(PDF / DWG / JPG / PNG)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68596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12529"/>
                </a:solidFill>
              </a:defRPr>
            </a:pPr>
            <a:r>
              <a:t>Отримайте точний розрахунок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73352" y="5310881"/>
            <a:ext cx="26517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8828C"/>
                </a:solidFill>
              </a:defRPr>
            </a:pPr>
            <a:r>
              <a:t>Ваше ім’я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5341879"/>
            <a:ext cx="26517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8828C"/>
                </a:solidFill>
              </a:defRPr>
            </a:pPr>
            <a:r>
              <a:t>Ваш телефон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349240"/>
            <a:ext cx="26517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8828C"/>
                </a:solidFill>
              </a:defRPr>
            </a:pPr>
            <a:r>
              <a:t>Зручний месенджер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2452" y="5934456"/>
            <a:ext cx="8503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828C"/>
                </a:solidFill>
              </a:defRPr>
            </a:pPr>
            <a:r>
              <a:rPr dirty="0" err="1"/>
              <a:t>Надсилаючи</a:t>
            </a:r>
            <a:r>
              <a:rPr dirty="0"/>
              <a:t> </a:t>
            </a:r>
            <a:r>
              <a:rPr dirty="0" err="1"/>
              <a:t>заявку</a:t>
            </a:r>
            <a:r>
              <a:rPr dirty="0"/>
              <a:t>, </a:t>
            </a:r>
            <a:r>
              <a:rPr dirty="0" err="1"/>
              <a:t>Ви</a:t>
            </a:r>
            <a:r>
              <a:rPr dirty="0"/>
              <a:t> </a:t>
            </a:r>
            <a:r>
              <a:rPr dirty="0" err="1"/>
              <a:t>даєте</a:t>
            </a:r>
            <a:r>
              <a:rPr dirty="0"/>
              <a:t> </a:t>
            </a:r>
            <a:r>
              <a:rPr dirty="0" err="1"/>
              <a:t>згоду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обробку</a:t>
            </a:r>
            <a:r>
              <a:rPr dirty="0"/>
              <a:t> </a:t>
            </a:r>
            <a:r>
              <a:rPr dirty="0" err="1"/>
              <a:t>Ваших</a:t>
            </a:r>
            <a:r>
              <a:rPr dirty="0"/>
              <a:t> </a:t>
            </a:r>
            <a:r>
              <a:rPr dirty="0" err="1"/>
              <a:t>персональних</a:t>
            </a:r>
            <a:r>
              <a:rPr dirty="0"/>
              <a:t> </a:t>
            </a:r>
            <a:r>
              <a:rPr dirty="0" err="1"/>
              <a:t>даних</a:t>
            </a:r>
            <a:r>
              <a:rPr dirty="0"/>
              <a:t>. </a:t>
            </a:r>
            <a:r>
              <a:rPr dirty="0" err="1"/>
              <a:t>Політика</a:t>
            </a:r>
            <a:r>
              <a:rPr dirty="0"/>
              <a:t> </a:t>
            </a:r>
            <a:r>
              <a:rPr dirty="0" err="1"/>
              <a:t>конфіденційності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1828800" y="6208776"/>
            <a:ext cx="8503920" cy="54864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Отримати точний розрахунок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6629400"/>
            <a:ext cx="1371600" cy="411480"/>
          </a:xfrm>
          <a:prstGeom prst="roundRect">
            <a:avLst/>
          </a:prstGeom>
          <a:solidFill>
            <a:srgbClr val="F5F6F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05A64"/>
                </a:solidFill>
              </a:defRPr>
            </a:pPr>
            <a:r>
              <a:t>Назад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226</Words>
  <Application>Microsoft Office PowerPoint</Application>
  <PresentationFormat>Произвольный</PresentationFormat>
  <Paragraphs>93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Алексей Шебанов</cp:lastModifiedBy>
  <cp:revision>3</cp:revision>
  <dcterms:created xsi:type="dcterms:W3CDTF">2013-01-27T09:14:16Z</dcterms:created>
  <dcterms:modified xsi:type="dcterms:W3CDTF">2026-02-06T12:56:25Z</dcterms:modified>
  <cp:category/>
</cp:coreProperties>
</file>